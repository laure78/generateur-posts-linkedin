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502920"/>
            <a:ext cx="3657600" cy="1217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6440" y="502920"/>
            <a:ext cx="914400" cy="121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02811"/>
            <a:ext cx="3291840" cy="1018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le rythme </a:t>
            </a:r>
            <a:pPr algn="ctr" indent="0" marL="0">
              <a:buNone/>
            </a:pPr>
            <a:r>
              <a:rPr lang="en-US" sz="5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chantiers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gros œuvre </a:t>
            </a:r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640080" y="4434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relais BTP augmenté par l'IA — proposition adaptée à CRM Construction.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794760" y="5074920"/>
            <a:ext cx="457200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94760" y="5074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POUR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Construction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œuvre &amp; maçonnerie — logements collectifs et sociaux · Évreux (27) · Amiens (80)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Construction en bref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œuvre &amp; maçonnerie — logements collectifs et sociaux.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4320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" cy="16916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rapide en 4 ans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02152" y="1783080"/>
            <a:ext cx="274320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1783080"/>
            <a:ext cx="73152" cy="16916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30752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0752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Évreux (27) · Amiens (80)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64224" y="1783080"/>
            <a:ext cx="274320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783080"/>
            <a:ext cx="73152" cy="16916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92824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k€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92824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Doublé en 2025 (+100 %)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26296" y="1783080"/>
            <a:ext cx="274320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6296" y="1783080"/>
            <a:ext cx="73152" cy="16916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QUALIBAT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454896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54896" y="2971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œuvre &amp;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8620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2960" y="4297680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superficielles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Voiles en béton armé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Maçonnerie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du bâtiment (ITE)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55080" y="3703320"/>
            <a:ext cx="5166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8620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adressés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537960" y="429768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 collectifs (29 à 125 logements)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 sociaux — bailleurs HLM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Résidentiel, collectif, professionnel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publics de bailleurs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Normandie &amp; Hauts-de-France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&amp; réhabilitation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problème d'une entreprise de gros œuvre.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couler le béton. C'est le bureau qui déborde pendant que les équipes sont sur le chantier.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lot 01 récolte tout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56032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gros œuvre ouvre le chantier et centralise les réservations de tous les corps d'état. Sans quelqu'un pour tracer, vous devenez la boîte aux lettres de tout le monde.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preuves qui bloquent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56032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d'essais béton, Proctor, constat d'huissier : un document égaré et le bureau de contrôle bloque, la retenue de garantie reste gelée.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AO bailleurs à rendre vite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8920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publics de bailleurs sociaux : DCE à synthétiser, mémoire technique à monter, dépôt dématérialisé — sur plusieurs dossiers en parallèle.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11480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526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&amp; DOE en retard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8920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Multi-chantiers Normandie + Hauts-de-France : situations mensuelles, DOE gros œuvre, réserves — le suivi documentaire se perd dès que le volume monte.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votre besoin ensemble.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pitch — un échange. Ces questions cadrent le périmètre juste avant de parler solution.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temps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060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vous fait perdre le plus de temps chaque semaine 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vous repoussez toujours, faute de temps 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organisation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6060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chantiers menez-vous en parallèle 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tient l'administratif : réservations, situations, DOE, AO 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9377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en retard, ça vous a coûté quoi (pénalités, RG, AO raté) 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d'appels d'offres laissés passer faute de temps 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114800"/>
            <a:ext cx="5486400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526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priorité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93776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déléguiez une seule chose dès demain, laquelle ?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part de Corbie, ou vous pensez plus large ?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BeWork prend en charge pour CRM.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tâches répétitives qui ne devraient plus reposer sur vos équipes.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Démarches préalables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DICT, autorisations de voirie, constat d'huissier contradictoire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02152" y="1691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30752" y="19202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03911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d'essais béton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30752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Proctor, transmission bureau de contrôle, dossier interne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92824" y="19202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03911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2824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&amp; réseaux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92824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réservations des lots techniques, traçabilité, récolement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226296" y="1691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54896" y="192024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03911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54896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DCE (AO)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54896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CCTP / CCAP, points de vigilance avant chiffrage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6850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3913632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032504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technique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6868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AO bailleurs sociaux, mise en forme de la candidature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02152" y="36850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730752" y="3913632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624" y="4032504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30752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mensuelles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730752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Avancement, pièces, relances internes multi-chantiers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64224" y="36850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92824" y="3913632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4032504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92824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sous-traitance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592824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Agréments, DC4, assurances, attestations et relances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226296" y="36850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454896" y="3913632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768" y="4032504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454896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gros œuvre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454896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PV, plans de récolement, garanties — RG libérée à l'heure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40080" y="5623560"/>
            <a:ext cx="73152" cy="6400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46" name="Text 36"/>
          <p:cNvSpPr/>
          <p:nvPr/>
        </p:nvSpPr>
        <p:spPr>
          <a:xfrm>
            <a:off x="86868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équipes coulent et posent. BeWork tient le bureau : réservations, preuves, situations et DOE.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48" name="Text 38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200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gros œuvre — réservations tracées, RG libérée.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BeWork protège directement votre marge et votre trésorerie.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766560" cy="37490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BeWork tient votre dossier gros œuvre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926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32186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DICT, autorisations de voirie, constat d'huissier, dossier de contrôle interne — le chantier ouvre sans trou administratif.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721608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6758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96849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traçabilité des réservations de tous les lots techniques. Un oubli tracé, c'est l'oublieux qui paie le percement, pas vous.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471416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71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425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7183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d'essais béton et Proctor archivés et transmis au bureau de contrôle au fil de l'eau. Pas de point d'arrêt sur un papier manquant.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5221224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21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51755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4681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gros œuvre complet + plan de récolement à la réception. Votre retenue de garantie (5 %) libérée à l'heure, pas six mois plus tard.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224028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sécurise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8120" y="283464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Refacturation des réservations oubliées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Retenue de garantie 5 % libérée à l'heure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de contrôle débloqué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d'huissier opposable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mensuelles à jour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sans réserve administrative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4709160"/>
            <a:ext cx="3931920" cy="128016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 indicatif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18120" y="5120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structurée dès 250 € HT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818120" y="5532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intégré à votre forfait mensuel, selon la taille du chantier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BeWork pour un chantier CRM.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se prend à la carte — intervention ponctuelle dès 150 € HT, mission structurée dès 250 € HT — ou intégrée à votre forfait mensuel.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394960"/>
                <a:gridCol w="26517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ça couvre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 &amp; comment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DCE (AO bailleur)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CCTP / CCAP, cohérences plans / DPGF, points de vigilance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structurée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technique 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à la candidature d'un marché 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structurée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Réservations &amp; récolement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des lots techniques, plan de récolement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fil du chantier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essais béton / Proctor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Archivage + transmission au bureau de contrôle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fil du chantier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Situations mensuelles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Avancement, pièces, relances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mensuel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sous-traitance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Agréments, DC4, assurances, relances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mensuel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 gros œuvre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PV, récolement, garanties, sommaire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 chantier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Démarches préalables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DICT, autorisations de voirie, constat d'huissier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Ponctuel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 ne facture pas à l'heure : vous achetez un périmètre clair, des livrables et un niveau de suivi. Validation finale toujours côté CRM.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offres mensuelles — la reco pour CRM.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CRM — multi-chantiers, deux régions, marchés publics de bailleurs récurrents — la Cellule Travaux Externalisée est le point d'équilibre naturel.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9359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Travaux Essentiel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95144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pPr indent="0" marL="0">
              <a:buNone/>
            </a:pPr>
            <a:r>
              <a:rPr lang="en-US" sz="16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mois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3044952" cy="27432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Ajusté au devis selon votre périmètre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suivi bureau-chantier sans créer de poste interne.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3044952" cy="9144"/>
          </a:xfrm>
          <a:prstGeom prst="rect">
            <a:avLst/>
          </a:prstGeom>
          <a:solidFill>
            <a:srgbClr val="E5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3891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devis &amp; relances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6451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documentaire chantier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90118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suivi &amp; alertes pièces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5321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structurés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" y="581558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751576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d'oublis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" y="60350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97103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régulier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1691640"/>
            <a:ext cx="359359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2100" y="1527048"/>
            <a:ext cx="1554480" cy="292608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72100" y="15270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RECOMMANDÉE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6864" y="1920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Travaux Pro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26864" y="2295144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26864" y="2478024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1 490</a:t>
            </a:r>
            <a:pPr indent="0" marL="0">
              <a:buNone/>
            </a:pPr>
            <a:r>
              <a:rPr lang="en-US" sz="160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mois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4626864" y="3108960"/>
            <a:ext cx="3044952" cy="27432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33" name="Text 31"/>
          <p:cNvSpPr/>
          <p:nvPr/>
        </p:nvSpPr>
        <p:spPr>
          <a:xfrm>
            <a:off x="4626864" y="3108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Ajusté au devis selon votre périmètre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26864" y="34747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 le suivi quand plusieurs dossiers tournent en parallèle.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26864" y="4023360"/>
            <a:ext cx="3044952" cy="9144"/>
          </a:xfrm>
          <a:prstGeom prst="rect">
            <a:avLst/>
          </a:prstGeom>
          <a:solidFill>
            <a:srgbClr val="E5EAF2"/>
          </a:solidFill>
          <a:ln/>
        </p:spPr>
      </p:sp>
      <p:sp>
        <p:nvSpPr>
          <p:cNvPr id="36" name="Text 34"/>
          <p:cNvSpPr/>
          <p:nvPr/>
        </p:nvSpPr>
        <p:spPr>
          <a:xfrm>
            <a:off x="4626864" y="4114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26864" y="4389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55464" y="43891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DCE / CCTP / pièces marché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26864" y="46451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55464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/ PPSPS préparés &amp; suivis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26864" y="49011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55464" y="490118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+ reporting hebdomadaire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26864" y="5257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5152" y="559612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55321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Conducteurs soulagés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45152" y="581558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855464" y="5751576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continue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45152" y="60350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855464" y="597103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priorisées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65008" y="1691640"/>
            <a:ext cx="3593592" cy="4526280"/>
          </a:xfrm>
          <a:prstGeom prst="rect">
            <a:avLst/>
          </a:prstGeom>
          <a:solidFill>
            <a:srgbClr val="2F5BFF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9328" y="192024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Travaux Externalisée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339328" y="2295144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339328" y="2478024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2 900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 </a:t>
            </a:r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mois</a:t>
            </a:r>
            <a:endParaRPr lang="en-US" sz="3400" dirty="0"/>
          </a:p>
        </p:txBody>
      </p:sp>
      <p:sp>
        <p:nvSpPr>
          <p:cNvPr id="54" name="Shape 52"/>
          <p:cNvSpPr/>
          <p:nvPr/>
        </p:nvSpPr>
        <p:spPr>
          <a:xfrm>
            <a:off x="8339328" y="3108960"/>
            <a:ext cx="3044952" cy="274320"/>
          </a:xfrm>
          <a:prstGeom prst="roundRect">
            <a:avLst>
              <a:gd name="adj" fmla="val 50000"/>
            </a:avLst>
          </a:prstGeom>
          <a:solidFill>
            <a:srgbClr val="1E3FB8"/>
          </a:solidFill>
          <a:ln/>
        </p:spPr>
      </p:sp>
      <p:sp>
        <p:nvSpPr>
          <p:cNvPr id="55" name="Text 53"/>
          <p:cNvSpPr/>
          <p:nvPr/>
        </p:nvSpPr>
        <p:spPr>
          <a:xfrm>
            <a:off x="8339328" y="31089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Ajusté au devis selon votre périmètre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39328" y="34747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Externaliser une partie organisée du suivi multi-chantiers.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39328" y="4023360"/>
            <a:ext cx="3044952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8" name="Text 56"/>
          <p:cNvSpPr/>
          <p:nvPr/>
        </p:nvSpPr>
        <p:spPr>
          <a:xfrm>
            <a:off x="8339328" y="4114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39328" y="4389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567928" y="43891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multi-chantiers, centralisation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39328" y="46451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567928" y="464515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PPSPS, situations, CR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39328" y="49011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567928" y="490118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+ supervision renforcée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39328" y="525780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357616" y="559612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8567928" y="55321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structurée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357616" y="581558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8567928" y="5751576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massif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357616" y="60350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8567928" y="597103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mieux tenus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008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sur mesure  </a:t>
            </a:r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groupes, marchés publics récurrents, multi-agences : périmètre et tarif construits sur devis.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collaborative BeWork.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centralisée, traçabilité complète, conformité RGPD garantie.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47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505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partagée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27066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échanges entreprise ↔ BeWork centralisés, historique complet.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329184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4015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735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documentaire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00200" y="35295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des tâches en temps réel : qui a fait quoi, quand, commenté par qui.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245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965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automatique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00200" y="435254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DCE, situations, CR — chaque version datée, tracée, commentable.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60120" y="493776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0474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919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granulaires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600200" y="51755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rôle : vos conducteurs voient uniquement leurs chantiers.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263640" y="1691640"/>
            <a:ext cx="5257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83680" y="19476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conformité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537960" y="2468880"/>
            <a:ext cx="4709160" cy="658368"/>
          </a:xfrm>
          <a:prstGeom prst="rect">
            <a:avLst/>
          </a:prstGeom>
          <a:solidFill>
            <a:srgbClr val="EEF3F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6426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86600" y="25420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UE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086600" y="27980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des données 100 % en Europe (France / Allemagne).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537960" y="3246120"/>
            <a:ext cx="470916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41985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86600" y="33192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086600" y="35753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complète : droit d'accès, portabilité, effacement garantis.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537960" y="4023360"/>
            <a:ext cx="4709160" cy="658368"/>
          </a:xfrm>
          <a:prstGeom prst="rect">
            <a:avLst/>
          </a:prstGeom>
          <a:solidFill>
            <a:srgbClr val="EEF3F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197096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86600" y="40965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signé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086600" y="43525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 spécifique par client.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537960" y="4800600"/>
            <a:ext cx="470916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974336"/>
            <a:ext cx="292608" cy="29260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86600" y="48737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7086600" y="51297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AES-256 — données protégées au repos et en transit.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40080" y="5961888"/>
            <a:ext cx="10881360" cy="365760"/>
          </a:xfrm>
          <a:prstGeom prst="roundRect">
            <a:avLst>
              <a:gd name="adj" fmla="val 15000"/>
            </a:avLst>
          </a:prstGeom>
          <a:solidFill>
            <a:srgbClr val="EEF3F8"/>
          </a:solidFill>
          <a:ln w="12700">
            <a:solidFill>
              <a:srgbClr val="2F5BFF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&amp; DPA fournis en signature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Audit SOC2 disponible sur demande   ·   100 % supervisé en France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43" name="Text 33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 pour une entreprise de gros œuvre comme CRM.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raisons concrètes, calibrées sur votre métier et vos marchés.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" cy="210312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conducteurs repassent sur le chantier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5603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classer des plans de réservations, ils ouvrent le lot suivant plus vite. Chaque heure de bureau rendue au terrain, c'est de la production.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783080"/>
            <a:ext cx="73152" cy="210312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0" y="20574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94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preuves vous couvrent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52360" y="25603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d'huissier, PV d'essais, réservations tracées : le jour d'un litige ou d'un contrôle, le dossier est là. C'est l'oublieux qui paie, pas vous.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114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4114800"/>
            <a:ext cx="73152" cy="210312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526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régions, un seul fil documentaire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892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Évreux et Amiens, plusieurs chantiers en parallèle — un point d'entrée commun pour situations, DOE et suivi sous-traitance. Statuts à jour.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55080" y="4114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5080" y="4114800"/>
            <a:ext cx="73152" cy="210312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4" name="Shape 19"/>
          <p:cNvSpPr/>
          <p:nvPr/>
        </p:nvSpPr>
        <p:spPr>
          <a:xfrm>
            <a:off x="6675120" y="43891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526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523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recrutement, pas de charge fixe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52360" y="4892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absorbez les pics (AO, réservations, DOE) sans créer un poste d'assistant travaux. Vous démarrez petit et ajustez au rythme de vos chantiers.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en 4 étapes.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l'audit de votre premier dossier chantier au mode opérationnel, sans friction.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697480" cy="10058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1214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du 1er dossier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transmettez un dossier chantier en cours ou un DCE bailleur. Retour clair sous 48 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56432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56432" y="1828800"/>
            <a:ext cx="2697480" cy="10058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2" name="Text 9"/>
          <p:cNvSpPr/>
          <p:nvPr/>
        </p:nvSpPr>
        <p:spPr>
          <a:xfrm>
            <a:off x="373075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12140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Calibrage des process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730752" y="3749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sur vos trames, vos normes internes, votre charte CRM.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2784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72784" y="1828800"/>
            <a:ext cx="2697480" cy="10058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8" name="Text 14"/>
          <p:cNvSpPr/>
          <p:nvPr/>
        </p:nvSpPr>
        <p:spPr>
          <a:xfrm>
            <a:off x="6547104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12140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47104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en mode pilote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47104" y="3749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lot de tâches traité sur un projet en cours.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89136" y="18288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089136" y="1828800"/>
            <a:ext cx="2697480" cy="100584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24" name="Text 19"/>
          <p:cNvSpPr/>
          <p:nvPr/>
        </p:nvSpPr>
        <p:spPr>
          <a:xfrm>
            <a:off x="9363456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76" y="212140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63456" y="3108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opérationnel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363456" y="3749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de croisière. Périmètre ajusté à votre charge réelle de chantiers.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hébergées en France  ·  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signé sur demande  ·  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supervision humaine  ·  </a:t>
            </a:r>
            <a:pPr indent="0" marL="0">
              <a:buNone/>
            </a:pPr>
            <a:r>
              <a:rPr lang="en-US" sz="1200" b="1" i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gardez la validation finale.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02920"/>
            <a:ext cx="3840480" cy="1278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tenir le rythme 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Envoyez un </a:t>
            </a:r>
            <a:pPr algn="ctr" indent="0" marL="0">
              <a:buNone/>
            </a:pPr>
            <a:r>
              <a:rPr lang="en-US" sz="20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chantier</a:t>
            </a:r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pPr algn="ctr" indent="0" marL="0">
              <a:buNone/>
            </a:pPr>
            <a:r>
              <a:rPr lang="en-US" sz="20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 bailleur</a:t>
            </a:r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une </a:t>
            </a:r>
            <a:pPr algn="ctr" indent="0" marL="0">
              <a:buNone/>
            </a:pPr>
            <a:r>
              <a:rPr lang="en-US" sz="20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à tracer</a:t>
            </a:r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clair sous 48 h sur ce que BeWork peut prendre en charge.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34840" y="4251960"/>
            <a:ext cx="3291840" cy="777240"/>
          </a:xfrm>
          <a:prstGeom prst="roundRect">
            <a:avLst>
              <a:gd name="adj" fmla="val 49412"/>
            </a:avLst>
          </a:prstGeom>
          <a:solidFill>
            <a:srgbClr val="2F5BFF"/>
          </a:solidFill>
          <a:ln/>
          <a:effectLst>
            <a:outerShdw sx="100000" sy="100000" kx="0" ky="0" algn="bl" rotWithShape="0" blurRad="152400" dist="38100" dir="5400000">
              <a:srgbClr val="2F5BFF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34840" y="4251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appel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794760" y="5349240"/>
            <a:ext cx="4572000" cy="868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5349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POUR  </a:t>
            </a:r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Construction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Gros œuvre &amp; maçonnerie — logements collectifs et sociaux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2F5B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6446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bework.fr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6446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tient le bureau, vous tenez le chantier.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BeWork x CRM Construction</dc:title>
  <dc:subject>PptxGenJS Presentation</dc:subject>
  <dc:creator>BeWork</dc:creator>
  <cp:lastModifiedBy>BeWork</cp:lastModifiedBy>
  <cp:revision>1</cp:revision>
  <dcterms:created xsi:type="dcterms:W3CDTF">2026-07-12T13:51:19Z</dcterms:created>
  <dcterms:modified xsi:type="dcterms:W3CDTF">2026-07-12T13:51:19Z</dcterms:modified>
</cp:coreProperties>
</file>